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32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96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409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FE098-7BC2-03E7-5E1D-7BAFF30BB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EA546-8B6D-2B8D-5F98-1DC0872E2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43211-5792-D2C9-179E-599BBB576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60C5F-CE76-E9C8-3F10-CB5F0782E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59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STRUCTURES, ALGORITHMS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MACHINE LEARNING IN ACTION</a:t>
            </a:r>
          </a:p>
        </p:txBody>
      </p:sp>
      <p:sp>
        <p:nvSpPr>
          <p:cNvPr id="6" name="Text 4"/>
          <p:cNvSpPr/>
          <p:nvPr/>
        </p:nvSpPr>
        <p:spPr>
          <a:xfrm>
            <a:off x="968542" y="3184759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 STRATEGIC BUSINESS DECISIONS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FBCF2-E943-5492-CB91-F30B618A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1E6D4F-D3F8-E02C-C787-89BA0EBC9B82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BA8B6D1-7EAA-A414-EE67-A20191004D03}"/>
              </a:ext>
            </a:extLst>
          </p:cNvPr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B3E127-51AB-B02D-D4E8-46E5BD388E94}"/>
              </a:ext>
            </a:extLst>
          </p:cNvPr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Planning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73DE135-4F8C-D93C-D29C-D636850B0997}"/>
              </a:ext>
            </a:extLst>
          </p:cNvPr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130E5A7-342C-F481-498D-A56D1899DE25}"/>
              </a:ext>
            </a:extLst>
          </p:cNvPr>
          <p:cNvSpPr/>
          <p:nvPr/>
        </p:nvSpPr>
        <p:spPr>
          <a:xfrm>
            <a:off x="457200" y="1371600"/>
            <a:ext cx="2697480" cy="5120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13040F4-D56D-3671-6707-6F25565F47A6}"/>
              </a:ext>
            </a:extLst>
          </p:cNvPr>
          <p:cNvSpPr/>
          <p:nvPr/>
        </p:nvSpPr>
        <p:spPr>
          <a:xfrm>
            <a:off x="457200" y="1371600"/>
            <a:ext cx="269748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D43EB4D-3D00-FF72-218B-3D69BA83F4E0}"/>
              </a:ext>
            </a:extLst>
          </p:cNvPr>
          <p:cNvSpPr/>
          <p:nvPr/>
        </p:nvSpPr>
        <p:spPr>
          <a:xfrm>
            <a:off x="640080" y="1645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5367787-35B6-AE6F-35D5-A2387A41C4CD}"/>
              </a:ext>
            </a:extLst>
          </p:cNvPr>
          <p:cNvSpPr/>
          <p:nvPr/>
        </p:nvSpPr>
        <p:spPr>
          <a:xfrm>
            <a:off x="6400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01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9BD66CD-121B-A972-6578-28F434A68BAC}"/>
              </a:ext>
            </a:extLst>
          </p:cNvPr>
          <p:cNvSpPr/>
          <p:nvPr/>
        </p:nvSpPr>
        <p:spPr>
          <a:xfrm>
            <a:off x="640080" y="2743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Sorting Algorithms &amp;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Prioritization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860671A-DAE1-A29A-43ED-9D834E947720}"/>
              </a:ext>
            </a:extLst>
          </p:cNvPr>
          <p:cNvSpPr/>
          <p:nvPr/>
        </p:nvSpPr>
        <p:spPr>
          <a:xfrm>
            <a:off x="640080" y="3931920"/>
            <a:ext cx="1371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363A034-A5EB-76F2-3E89-7368F741A04D}"/>
              </a:ext>
            </a:extLst>
          </p:cNvPr>
          <p:cNvSpPr/>
          <p:nvPr/>
        </p:nvSpPr>
        <p:spPr>
          <a:xfrm>
            <a:off x="64008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Cases: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048A6E5-8922-4B20-855A-50EF7605A4B3}"/>
              </a:ext>
            </a:extLst>
          </p:cNvPr>
          <p:cNvSpPr/>
          <p:nvPr/>
        </p:nvSpPr>
        <p:spPr>
          <a:xfrm>
            <a:off x="640080" y="4434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 Feed Ranking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IPL Auction Player Ranking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Product Ranking</a:t>
            </a:r>
            <a:endParaRPr lang="en-US" sz="11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94403B3-E867-8D30-2196-6710B6F2F52F}"/>
              </a:ext>
            </a:extLst>
          </p:cNvPr>
          <p:cNvSpPr/>
          <p:nvPr/>
        </p:nvSpPr>
        <p:spPr>
          <a:xfrm>
            <a:off x="3337560" y="1371600"/>
            <a:ext cx="2697480" cy="5120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DF9468F-C7DB-073B-9B87-F5369C405C21}"/>
              </a:ext>
            </a:extLst>
          </p:cNvPr>
          <p:cNvSpPr/>
          <p:nvPr/>
        </p:nvSpPr>
        <p:spPr>
          <a:xfrm>
            <a:off x="3337560" y="1371600"/>
            <a:ext cx="269748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CCB50FE-6A8F-D610-7401-204A1FA9B324}"/>
              </a:ext>
            </a:extLst>
          </p:cNvPr>
          <p:cNvSpPr/>
          <p:nvPr/>
        </p:nvSpPr>
        <p:spPr>
          <a:xfrm>
            <a:off x="3520440" y="1645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30CB151-FEED-7AA8-BF2D-3F94CCCEA8AE}"/>
              </a:ext>
            </a:extLst>
          </p:cNvPr>
          <p:cNvSpPr/>
          <p:nvPr/>
        </p:nvSpPr>
        <p:spPr>
          <a:xfrm>
            <a:off x="352044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02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7A47972-DC49-8C87-3E9C-8E151874B45A}"/>
              </a:ext>
            </a:extLst>
          </p:cNvPr>
          <p:cNvSpPr/>
          <p:nvPr/>
        </p:nvSpPr>
        <p:spPr>
          <a:xfrm>
            <a:off x="3520440" y="2743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Graph Algorithms &amp;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Network Modeling</a:t>
            </a:r>
            <a:endParaRPr lang="en-US" sz="14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E4CCBE3-5050-2075-B9BD-CFEF6E5A0DB4}"/>
              </a:ext>
            </a:extLst>
          </p:cNvPr>
          <p:cNvSpPr/>
          <p:nvPr/>
        </p:nvSpPr>
        <p:spPr>
          <a:xfrm>
            <a:off x="3520440" y="3931920"/>
            <a:ext cx="1371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72ABB45-51E5-E2A3-AEFA-B4F82FDD9F68}"/>
              </a:ext>
            </a:extLst>
          </p:cNvPr>
          <p:cNvSpPr/>
          <p:nvPr/>
        </p:nvSpPr>
        <p:spPr>
          <a:xfrm>
            <a:off x="352044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Cases: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80F5EC5-836D-27BD-8D6C-0EE3EFEE935C}"/>
              </a:ext>
            </a:extLst>
          </p:cNvPr>
          <p:cNvSpPr/>
          <p:nvPr/>
        </p:nvSpPr>
        <p:spPr>
          <a:xfrm>
            <a:off x="3520440" y="4434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Supply Chain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Cricket Partnership Network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Maps Routing</a:t>
            </a:r>
            <a:endParaRPr lang="en-US" sz="11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2EEACDC-7349-9316-9401-74F0092A9792}"/>
              </a:ext>
            </a:extLst>
          </p:cNvPr>
          <p:cNvSpPr/>
          <p:nvPr/>
        </p:nvSpPr>
        <p:spPr>
          <a:xfrm>
            <a:off x="6217920" y="1371600"/>
            <a:ext cx="2697480" cy="5120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64AAA35-1AEB-433B-8083-0B70A90CBF0A}"/>
              </a:ext>
            </a:extLst>
          </p:cNvPr>
          <p:cNvSpPr/>
          <p:nvPr/>
        </p:nvSpPr>
        <p:spPr>
          <a:xfrm>
            <a:off x="6217920" y="1371600"/>
            <a:ext cx="269748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6D31ABD-69B1-C1E5-E9B0-F853467D539A}"/>
              </a:ext>
            </a:extLst>
          </p:cNvPr>
          <p:cNvSpPr/>
          <p:nvPr/>
        </p:nvSpPr>
        <p:spPr>
          <a:xfrm>
            <a:off x="6400800" y="1645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6C53F76-8792-0E5B-DB66-34A6969D1ACE}"/>
              </a:ext>
            </a:extLst>
          </p:cNvPr>
          <p:cNvSpPr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03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FA68EC7-71BC-6C13-2CCB-610DBF9F8AD1}"/>
              </a:ext>
            </a:extLst>
          </p:cNvPr>
          <p:cNvSpPr/>
          <p:nvPr/>
        </p:nvSpPr>
        <p:spPr>
          <a:xfrm>
            <a:off x="6400800" y="2743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 Segmentation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Using ML</a:t>
            </a:r>
            <a:endParaRPr lang="en-US" sz="14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196685D-FED3-20DE-4C26-D097E0E9E15C}"/>
              </a:ext>
            </a:extLst>
          </p:cNvPr>
          <p:cNvSpPr/>
          <p:nvPr/>
        </p:nvSpPr>
        <p:spPr>
          <a:xfrm>
            <a:off x="6400800" y="3931920"/>
            <a:ext cx="1371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CC17FC9-0AE9-8B3D-9B40-9CE089B5DA52}"/>
              </a:ext>
            </a:extLst>
          </p:cNvPr>
          <p:cNvSpPr/>
          <p:nvPr/>
        </p:nvSpPr>
        <p:spPr>
          <a:xfrm>
            <a:off x="640080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Cases:</a:t>
            </a:r>
            <a:endParaRPr lang="en-US" sz="1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FCE8522-B379-0491-FF98-0C4890118BBF}"/>
              </a:ext>
            </a:extLst>
          </p:cNvPr>
          <p:cNvSpPr/>
          <p:nvPr/>
        </p:nvSpPr>
        <p:spPr>
          <a:xfrm>
            <a:off x="6400800" y="4434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User Segmentation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IPL Fan Segmentation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Spotify Listener Segmentation</a:t>
            </a:r>
            <a:endParaRPr lang="en-US" sz="11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6C80506-C3B6-35B9-784E-A66222673C9B}"/>
              </a:ext>
            </a:extLst>
          </p:cNvPr>
          <p:cNvSpPr/>
          <p:nvPr/>
        </p:nvSpPr>
        <p:spPr>
          <a:xfrm>
            <a:off x="9098280" y="1371600"/>
            <a:ext cx="2697480" cy="5120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93CA08D-12F1-9E8B-619E-36FF4187BE38}"/>
              </a:ext>
            </a:extLst>
          </p:cNvPr>
          <p:cNvSpPr/>
          <p:nvPr/>
        </p:nvSpPr>
        <p:spPr>
          <a:xfrm>
            <a:off x="9098280" y="1371600"/>
            <a:ext cx="269748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891A570-EC99-C523-BA85-890247695205}"/>
              </a:ext>
            </a:extLst>
          </p:cNvPr>
          <p:cNvSpPr/>
          <p:nvPr/>
        </p:nvSpPr>
        <p:spPr>
          <a:xfrm>
            <a:off x="9281160" y="1645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6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EA19954-6ED4-17CB-6936-235B8D25615F}"/>
              </a:ext>
            </a:extLst>
          </p:cNvPr>
          <p:cNvSpPr/>
          <p:nvPr/>
        </p:nvSpPr>
        <p:spPr>
          <a:xfrm>
            <a:off x="928116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04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B2B5E02-CBEE-39CD-E3F9-E9FFD4E20615}"/>
              </a:ext>
            </a:extLst>
          </p:cNvPr>
          <p:cNvSpPr/>
          <p:nvPr/>
        </p:nvSpPr>
        <p:spPr>
          <a:xfrm>
            <a:off x="9281160" y="2743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Classification &amp;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E2D9F8D-2C08-D163-0F19-E64A8692B26A}"/>
              </a:ext>
            </a:extLst>
          </p:cNvPr>
          <p:cNvSpPr/>
          <p:nvPr/>
        </p:nvSpPr>
        <p:spPr>
          <a:xfrm>
            <a:off x="9281160" y="3931920"/>
            <a:ext cx="1371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A1E8459-BC1D-511C-C4FE-7ED7D28AC015}"/>
              </a:ext>
            </a:extLst>
          </p:cNvPr>
          <p:cNvSpPr/>
          <p:nvPr/>
        </p:nvSpPr>
        <p:spPr>
          <a:xfrm>
            <a:off x="928116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Cases:</a:t>
            </a:r>
            <a:endParaRPr lang="en-US" sz="10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EBFBE9D-DA84-94E6-92C1-FD75D854D923}"/>
              </a:ext>
            </a:extLst>
          </p:cNvPr>
          <p:cNvSpPr/>
          <p:nvPr/>
        </p:nvSpPr>
        <p:spPr>
          <a:xfrm>
            <a:off x="9281160" y="44348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Approval Model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Churn Prediction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Card Fraud Detection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47927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3A5F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Sorting Algorithms &amp;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Prioritization Systems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 Sort  •  Insertion Sort  •  QuickSort  •  Business Impact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💡 DID YOU KNOW?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Fascinating Facts — Session 1 — Sorting &amp; Prioritization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processes 8.5 billion searches/day. Each query sorts millions of results in &lt; 200ms. A 1% inefficiency in sort = $50M+ in extra cloud spend annually.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8775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587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found that every 100ms of latency costs them 1% in sales — roughly $4.8 billion/year lost if sort algorithms slow down product rankings.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4787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47472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LinkedIn's feed algorithm re-ranks 100K+ candidate posts per user session using a hybrid ML + sort pipeline. The ranking order directly affects $16B in annual ad revenue.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50799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4507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4348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IPL player auction involves ₹4,000+ Crore ($500M+) in bids decided in under 48 hours — teams use weighted multi-criteria sorting to rank 500+ players in real-time.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46811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5468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53949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QuickSort, invented in 1960 by Tony Hoare, is still the default sort in most programming languages — 65 years later, no general-purpose algorithm consistently beats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Sorting Matters in Business Systems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Sorting = Ranking = Resource Allocation — every business decision involves ordering alternatives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Complexity matters at scale: Selection Sort O(n²), Insertion Sort O(n²) but efficient for nearly-sorted data, QuickSort O(n log n) average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Stability: Stable sorts preserve original order for equal elements — critical for multi-key ranking (e.g., sort by score THEN by date)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In-place vs Memory overhead: QuickSort is in-place (saves RAM), MergeSort needs O(n) extra space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Sorting speed directly affects latency, cloud compute costs, user retention, and revenue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10M records: O(n²) takes ~100 trillion ops vs O(n log n) at ~230M ops — that's a 400,000x difference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Real-world: Every extra 100ms of latency = 1% sales drop (Amazon), 0.6% fewer searches (Google)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Complexity: The Business Cost of Bad Sorting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7432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30175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Algorithm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Best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Average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Worst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Space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Stable?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Best For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Selection Sort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O(n²)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O(n²)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O(n²)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O(1)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Small datasets, minimal swaps needed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Insertion Sort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O(n²)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O(n²)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O(1)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Nearly sorted data, streaming input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QuickSort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 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 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O(n²)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General purpose, large datasets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MergeSort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 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 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 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Guaranteed performance, linked lists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TimSort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 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 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Python/Java default — real-world data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57200" y="457200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3152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💰 Business Translation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5029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Sorting 1M e-commerce products: QuickSort ≈ 0.3s vs Selection Sort ≈ 16 minutes. On Azure B2s VM ($0.05/hr), the O(n²) approach costs 53x more. At Netflix scale (247M subscribers), algorithm choice = millions in infrastructure savings.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 Feed Ranking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LinkedIn (Microsoft)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LinkedIn: 100K+ Posts Ranked Per User Session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 serves 1B+ members — each sees a personalized feed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100K+ candidate posts per user session must be ranked in &lt; 200ms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 ranking directly drives $16B in annual ad revenue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 #1 in feed gets 10x the engagement of position #10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 multi-criteria ranking at massive scale in real-time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Input Features for Ranking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Engagement Score: predicted likes, comments, shares (0-100)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Strength: how close is the poster to the viewer (0-1)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Recency: hours since posted (0-168, lower = more recent)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Type: article, video, poll, image, text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 Followers: social proof signal (50-500K)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Composite Score = weighted combination of all factors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Use Case 1: LinkedIn Feed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5,000 candidate posts for LinkedIn Feed Ranking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2880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post_id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post identifier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engagement_score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Predicted engagement (0-100)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connection_strength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Viewer-poster relationship strength (0-1)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hours_since_posted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Hours since the post was published (0-168)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content_type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article | video | poll | image | text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creator_followers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 of followers of the post creator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LinkedIn Feed Ranking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composite ranking score using engagement, connection strength, recency, content type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Selection Sort, Insertion Sort, and QuickSort on the feed dataset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execution time for each algorithm at 1K, 2K, and 5K posts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stable vs unstable sort behavior when scores are tied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estimate latency cost at LinkedIn scale (1B users)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Visualize: top-20 ranked posts — does the ranking make business sense?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IPL Auction Player Ranking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Indian Premier League (Cricket)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IPL Auction: ₹4,000 Cr Decisions in 48 Hours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rank 500+ players before the mega auction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purse per team: ₹100 Crore (~$12M)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ranking = overpaying by ₹10-30 Cr per player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Multi-criteria problem: performance, form, injury risk, role fit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 auction: ₹4,470 Crore spent across 10 teams in 2 days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Mitchell Starc sold for ₹24.75 Cr — highest ever IPL bid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Input Features for Ranking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Strike Rate: runs per 100 balls (higher = more aggressive)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Batting Average: runs per dismissal (higher = more consistent)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Form Index: weighted avg of last 10 matches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Injury Risk Probability: 0.0-1.0 based on medical history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Requirement: opener, middle-order, finisher, bowler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Price: minimum bid set by player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Mapping: Multi-Criteria Sorting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Multi-Criteria Scoring: composite_score = w1×strike_rate + w2×avg + w3×form - w4×injury + role_bonus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Sort: different team strategies produce different weight vectors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Aggressive team: high weight on strike rate → prioritize finishers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Conservative team: high weight on average + low injury → prioritize consistency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Sensitivity Analysis: How much does ranking change when weights shift by ±10%?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Constraint Layer: After sorting, apply knapsack-style optimization — maximize total team value within ₹100 Cr budget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Impact: In 2023, teams using analytics-driven sorting won 23% more matches than those relying on expert intuition alone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Use Case 2: Dataset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IPL Auction Player Ranking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player_name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name of the cricketer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strike_rate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Career T20 strike rate (runs per 100 balls)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batting_avg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Career T20 batting average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recent_form_score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Weighted score from last 10 T20 matches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injury_risk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 (no risk) to 1.0 (very high risk)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base_price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Minimum auction price in ₹ Lakhs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role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opener | middle_order | finisher | bowler | allrounder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IPL Auction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weighted composite score with configurable weights per team strategy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players by composite score — compare stable vs unstable sort behavior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3 team strategies: aggressive, balanced, conservative — observe ranking changes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Sensitivity analysis: vary each weight ±10% and measure rank position change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optimization: select optimal squad (11 players) within ₹100 Cr constraint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Visualize: scatter plot of value-for-money (score/price ratio) vs absolute score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Product Search Ranking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Amazon.com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Amazon: 8.5 Billion Searches/Day, Every Result Sorted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processes 8.5B searches/day — each returns sorted product results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 #1 gets 35% of clicks — ranking directly determines what sells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350M+ products in the marketplace — sorting speed = revenue speed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100ms of latency costs Amazon ~$1.6B/year in lost sales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 multi-criteria ranking at massive scale in real-time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Input Features for Ranking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Relevance Score: keyword match with search query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Rating: 1-5 star customer rating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Count: social proof signal (log-scaled)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Speed: Prime 1-day vs 14-day shipping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Rate: product quality signal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 Rating: marketplace trust metric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Use Case 3: Amazon Product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1,000 products for Amazon Search Ranking simulation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product_id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ASIN identifier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category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Electronics | Books | Clothing | Home | Sports | etc.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avg_rating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Average customer rating (1-5 stars)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num_reviews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number of customer reviews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price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 price in USD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relevance_score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 to 1.0 — search query match strength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delivery_days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Expected delivery time in days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is_prime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= Prime eligible, 0 = standard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return_rate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Historical return rate (0-0.3)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Amazon Product Ranking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composite ranking score from relevance, rating, reviews, delivery, return rate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Selection Sort, QuickSort, and TimSort on 1,000 products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3 ranking strategies: Relevance-First, Customer-Trust, Fast-Delivery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simulation: 100 to 5,000 products — measure time per algorithm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 infrastructure cost at Amazon scale (8.5B daily searches)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Analyze: which strategy surfaces the best products for customers?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3A5F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Algorithms &amp;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Modeling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  •  BFS / DFS  •  Minimum Spanning Tree  •  Centrality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💡 DID YOU KNOW?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Fascinating Facts — Session 2 — Graphs &amp; Networks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Facebook's social graph contains 3 billion nodes and 200+ billion edges. Finding a friend suggestion requires traversing this graph in &lt; 100ms.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8775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587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FedEx optimizes 15 million package routes daily using graph shortest-path algorithms — saving $2B+ per year in fuel costs vs naive routing.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4787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47472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Maps' Dijkstra-variant processes 1 billion+ km of roads. A 0.1% improvement in pathfinding saved users 100 million hours of driving time in 2023.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50799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4507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4348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supply chain networks, a single critical-node failure (like the 2021 Suez Canal blockage) caused $9.6 billion/day in global trade losses — graph centrality analysis could have identified this vulnerability.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46811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5468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53949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"Six Degrees of Separation" theory was proven computationally on Facebook: average shortest path between any two users = 3.57 hops.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Theory: Graph Fundamentals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Nodes (Vertices): entities in the network — people, locations, servers, products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Edges: relationships between nodes — can be directed or undirected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Graphs: edges carry values — cost, time, risk, capacity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Algorithms: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Dijkstra: shortest weighted path — optimization of cost/time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BFS (Breadth-First Search): level-by-level exploration — nearest neighbor discovery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DFS (Depth-First Search): deep exploration — cycle detection, dependency resolution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Minimum Spanning Tree (Kruskal/Prim): connect all nodes at minimum total cost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Centrality Measures: identify the most influential/critical nodes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Applications of Graph Theory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Industry Applications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Chain: optimize routing, identify single-point-of-failure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 Detection: unusual transaction patterns in payment graphs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Networks: influence propagation, community detection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 &amp; Logistics: route optimization, fleet management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Cybersecurity: network intrusion path analysis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 Engines: collaborative filtering via user-item graphs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Centrality Measures for Business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Degree Centrality: who has the most connections? (popularity)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Betweenness Centrality: who bridges communities? (information broker)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Closeness Centrality: who can reach everyone fastest? (influence speed)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PageRank: who is connected to other important nodes? (authority)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implication: removing high-betweenness node = network fragmentation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Risk: a supplier with highest betweenness = biggest vulnerability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Global Supply Chain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Optimization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Microsoft Corporation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Supply Chain: A $200B+ Network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 component movement between 30+ factories &amp; 60+ data centers globally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Microsoft's hardware supply chain: Surface, Xbox, Azure servers, HoloLens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day: 10,000+ components move across continents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COVID-19 exposed fragility: 64% of companies faced supply disruption in 2021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minimize cost while maintaining delivery SLAs and managing risk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Graph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Nodes: Supplier → Factory → Warehouse → Data Center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weights: Transport cost ($), Delivery time (days), Risk probability (0-1)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Multi-objective optimization: minimize cost + time while keeping risk below threshold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failure scenario: what happens if a key warehouse goes offline?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data: Suez Canal blockage added $400/container → changed shortest paths globally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Use Case 1: Supply Chain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Microsoft Supply Chain Graph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2880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source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Origin node (e.g., 'Supplier_Taiwan_A')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destination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Destination node (e.g., 'Factory_Ireland')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cost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cost per unit in USD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delivery_time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Expected delivery time in days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risk_score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 (safe) to 1.0 (high risk) — geopolitical, weather, capacity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capacity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Maximum units per shipment on this route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Supply Chain Graph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graph using NetworkX: nodes = facilities, edges = transport routes with cost/time/risk weights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shortest path (Dijkstra) optimizing for cost — then separately for time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Minimum Spanning Tree: what's the minimum-cost network to connect all nodes?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Betweenness centrality: identify the most critical nodes (highest disruption risk)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 node failure: remove top-centrality node → recalculate paths and cost increase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Visualize: interactive graph with node size = centrality, edge width = capacity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576072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31520" y="609904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1520" y="6099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611733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disruption report: % cost increase, SLA breach count, affected product lines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Cricket Partnership Network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Indian Premier League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Cricket Partnership Graph: Data-Driven Team Building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most valuable batting partnerships in T20 cricket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Partnerships = collaborative performance → graph problem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metric: individual batting average/strike rate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metric: which PAIR of batters creates most value together?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Insight: some players perform 40% better with specific partners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 IPL: top partnership generated 534 runs in 12 innings together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Graph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Nodes: Players (with individual stats as node attributes)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Edges: Partnership records (runs scored together, win contribution)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weight: composite of runs_together × win_percentage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Degree Centrality: who partners successfully with the MOST players?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Betweenness: who connects different batting clusters? (versatile batter)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Detection: identify natural batting pairs/groups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Use Case 2: Partnership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Cricket Partnership Network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player_a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 player in the partnership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player_b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Second player in the partnership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runs_together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runs scored while both were batting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matches_played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 of matches they batted together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win_percentage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win % when this pair bats together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avg_partnership_sr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Combined strike rate during partnerships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Partnership Network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partnership graph: players as nodes, partnership stats as weighted edges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degree centrality: who is the most versatile partner?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betweenness centrality: who bridges different batting groups?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strongest edges: top-10 most valuable partnerships by weighted score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Compare: popularity (degree) vs actual impact (weighted betweenness)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Visualize: force-directed graph with communities color-coded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Maps Route Optimization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Google (Alphabet)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Maps: 1 Billion Users, Real-Time Routing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Maps processes 1B+ km of roads for routing decisions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billion+ users depend on it for daily navigation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0.1% improvement in pathfinding saved 100M hours of driving in 2023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FedEx uses shortest-path algorithms saving $2B+/year in fuel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Multi-objective: minimize distance vs time vs toll cost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Graph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Nodes: 20 city locations (Home, Office, Airport, Mall, etc.)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Edges: road segments with distance, travel time, toll cost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Traffic multiplier: 1.0x (clear) to 2.5x (heavy congestion)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 types: highway, arterial, local, expressway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score: accident probability per road segment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origin-destination has different optimal paths by objective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Use Case 3: Google Maps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 road network with 20 locations and ~113 road segments</a:t>
            </a:r>
            <a:endParaRPr lang="en-US" sz="1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3703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source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Origin location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destination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Destination location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distance_km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Road segment distance in km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base_time_min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Travel time without traffic (minutes)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traffic_multiplier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1.0 (clear) to 2.5 (heavy traffic)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road_type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highway | arterial | local | expressway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toll_cost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Toll charge in USD (0 = no toll)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accident_risk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Historical accident probability (0-0.25)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Google Maps Routing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city road network graph with distance, time, traffic, and toll weights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Dijkstra shortest path optimizing for distance vs time vs cost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Minimum Spanning Tree — minimum roads to connect all locations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Betweenness centrality: identify critical intersections (traffic bottlenecks)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 road closure: remove top centrality node and measure detour impact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Compare: BFS (min hops) vs Dijkstra (min distance) vs Dijkstra (min time)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3A5F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Segmentation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Machine Learning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K-Means  •  Hierarchical Clustering  •  DBSCAN  •  Business Interpretation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💡 DID YOU KNOW?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Fascinating Facts — Session 3 — Customer Segmentation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saves $1 billion per year through its recommendation system, which is built on user segmentation. 80% of content watched comes from algorithmic suggestions.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8775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587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Starbucks' customer segmentation drives 40% of its revenue through targeted offers. Their ML system segments 30M+ rewards members into micro-cohorts updated weekly.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4787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47472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Amazon's "Customers who bought this" feature (collaborative filtering + segmentation) drives 35% of total revenue — worth $150B+ annually.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50799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4507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4348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Spotify's Discover Weekly playlist, powered by user clustering, has generated 10B+ streams. Users who engage with it have 30% lower churn rate.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46811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5468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53949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wrong number of segments (K) can be catastrophic: a major retailer lost $50M in a single quarter by targeting 3 segments when their data naturally had 7, sending irrelevant promotions to 60% of customers.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Theory: Unsupervised Learning for Segmentation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Unsupervised Learning: no labeled data — algorithm discovers structure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K-Means Clustering: partition n observations into K clusters minimizing within-cluster variance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Fast, scalable, interpretable — but requires choosing K and assumes spherical clusters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Hierarchical Clustering: builds a tree (dendrogram) of nested clusters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No need to pre-specify K — but O(n³) complexity, not scalable beyond ~10K points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DBSCAN: density-based clustering — finds arbitrarily shaped clusters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Handles outliers naturally — but sensitive to hyperparameters (eps, min_samples)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Scaling: CRITICAL — K-Means uses Euclidean distance; unscaled features create bias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Choosing K: Elbow Method (inertia plot) + Silhouette Score (cohesion vs separation)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Purpose: Why Segment?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Strategic Value of Segmentation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Personalization: right message to each segment → 5-8x higher engagement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Targeted Marketing: allocate budget to highest-ROI segments first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Lifetime Value (LTV) optimization: identify and nurture high-value cohorts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Development: build features that serve largest/highest-value segments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 Strategy: different willingness-to-pay per segment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Prevention: identify at-risk segments before they leave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Cluster Validation: Is Your Segmentation Good?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Silhouette Score: -1 to +1 (higher = better separation between clusters)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Inertia / Elbow Method: plot inertia vs K — look for the 'elbow' bend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Sense Test: can marketing team act on these segments?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Stability Test: re-run with different seeds — do segments stay consistent?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Balance: are segments too skewed? (one cluster with 90% of data is useless)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Actionability: each segment must have a distinct strategic response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User Segmentation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Retention Strategy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Netflix Inc.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Netflix: 247M Subscribers, 190 Countries, 1 Algorithm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recommendation accuracy and reduce churn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loses $1.6B/year to churn (avg subscriber stays 15 months)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library costs $17B/year — ROI depends on matching content to segments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 segment users to enable hyperpersonalized recommendations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insight: users don't know what they want — 80% of plays come from recommendations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Features for Segmentation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Hours: daily average viewing time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Genre Diversity Score: how many different genres per month (0-1)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Tier: Basic, Standard, Premium, Ad-supported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 Type: mobile, tablet, desktop, smart TV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Active: number of days with at least one stream in last 30 days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Completion Rate: % of started shows/movies finished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Use Case 1: Netflix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Netflix User Segmentation</a:t>
            </a:r>
            <a:endParaRPr lang="en-US" sz="1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user_id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anonymous user identifier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avg_watch_hours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Average daily watch hours (0-12)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genre_diversity_score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 (one genre only) to 1.0 (watches all genres)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subscription_type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basic | standard | premium | ad_supported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days_active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 days in last 30 days (0-30)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completion_rate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 of content started that was finished (0-1)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device_primary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mobile | tablet | desktop | smart_tv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Netflix Segmentation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engineering: encode subscription_type and device_primary using ordinal/one-hot encoding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all features using StandardScaler (critical for K-Means Euclidean distance)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Determine optimal K: plot Elbow curve (inertia) and Silhouette scores for K=2 to K=10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K-Means with optimal K — assign cluster labels to each user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each cluster: compute mean/median of all features per cluster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Visualize: PCA 2D projection with cluster coloring + radar charts per cluster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576072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31520" y="609904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1520" y="6099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611733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each cluster with a business persona (e.g., 'Binge Watcher', 'Casual Browser')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IPL Fan Segmentation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Revenue Optimization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Indian Premier League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IPL: 500M+ Viewers, ₹50,000 Cr Media Rights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IPL 2023 viewership: 505 million across TV + streaming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rights deal: ₹48,390 Cr ($5.9B) for 2023-2027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streams: tickets, merchandise, sponsorship, streaming, fantasy gaming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 not all fans are equal — need to identify premium segments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maximize revenue per fan by understanding consumption patterns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Features for Segmentation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Attendance: stadium visits per season (0-14 home games)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Merchandise Spend: annual spend on team merchandise (₹)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Engagement: posts, likes, shares about IPL per month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Hours: hours of IPL content streamed per season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Fantasy Gaming: active in IPL fantasy leagues? spend?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Multi-team vs Single-team: follows 1 team loyally or watches all?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Use Case 2: IPL Fan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IPL Fan Segmentation</a:t>
            </a:r>
            <a:endParaRPr lang="en-US" sz="14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fan_id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anonymous fan identifier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match_attendance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 of stadium matches attended per season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merchandise_spend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merchandise spending in ₹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social_engagement_score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Normalized social media activity (0-1)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streaming_hours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IPL streaming hours per season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fantasy_spend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spend on fantasy cricket in ₹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loyalty_index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 (multi-team) to 1.0 (single-team loyal)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IPL Fan Segmentation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features and run K-Means for K=3 to K=8 — determine optimal segments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clusters: which segment attends matches? which streams? which spends on merch?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the "Premium Superfan" segment: high attendance + high merch + high loyalty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the "Digital-Only" segment: high streaming + social but no attendance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revenue per fan per segment: (ticket + merch + streaming + fantasy revenue)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targeted campaign for each segment with specific channel + message + offer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Spotify Listener Segmentation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Spotify Technology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Spotify: 615M Users, Personalization at Scale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Spotify has 615M+ monthly active users in 180+ markets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Weekly playlist generated 10B+ streams via clustering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engaging with personalized playlists have 30% lower churn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subscribers ($11/month) = 87% of revenue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 segment listeners to enable hyper-personalized recommendations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Features for Segmentation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Listen Hours: average daily streaming time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Genre Diversity: how many genres per month (0-1 scale)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 Rate: % of songs skipped before 30 seconds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Playlist Count: number of saved/created playlists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Ratio: % of listening from algorithmically suggested music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Premium: free tier vs premium subscriber</a:t>
            </a:r>
            <a:endParaRPr lang="en-US" sz="13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Use Case 3: Spotify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2,000 listeners for Spotify Segmentation</a:t>
            </a:r>
            <a:endParaRPr lang="en-US" sz="14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user_id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listener identifier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daily_listen_hours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Average daily listening time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genre_diversity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 (one genre) to 1.0 (all genres)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skip_rate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Fraction of songs skipped early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playlist_count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 of playlists created/saved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is_premium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= Premium, 0 = Free tier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discovery_ratio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Percent of listening from recommendations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sessions_per_week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 of listening sessions per week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avg_song_completion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Average fraction of song played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Spotify Segmentation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features and run K-Means for K=2 to K=9 with Elbow + Silhouette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clusters: Power Listener, Casual, Workout/Focus, Podcast Lover, Social Sharer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PCA 2D visualization with cluster coloring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per segment: premium vs free tier breakdown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targeted playlist and upsell strategy per segment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Estimate: if personalization reduces churn by 5% in casual segment, revenue impact?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QUIZ TIME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3: Customer Segmentation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1E3A5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is feature scaling CRITICAL before running K-Means clustering?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48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 It makes the algorithm faster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B)  K-Means uses Euclidean distance — unscaled features dominate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4414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C)  It reduces the number of clusters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4414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D)  It makes clusters more colorful in plots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1E3A5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30175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9718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Silhouette Score of -0.15 means: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429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 Excellent cluster separation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429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B)  Points may be assigned to wrong clusters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7216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C)  You need more features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7216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D)  The algorithm hasn't converged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1E3A5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77240" y="42976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251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Netflix sends the same 20% discount to all users. What's the main business problem?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709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 It's too expensive to send emails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709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B)  Power users get unnecessary discounts; dormant users need different offers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71600" y="50017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C)  20% is too high a discount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50017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D)  Users don't read emails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4864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1E3A5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77240" y="55778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77240" y="5577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71600" y="5532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Elbow Method plots inertia vs K. You should choose K at the point where: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71600" y="5989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 Inertia is zero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5989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B)  Inertia drops sharply then flattens (the 'elbow')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71600" y="62819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C)  Inertia is highest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62819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D)  K equals the number of features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 with your neighbor before answering!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3A5F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 &amp;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Trees  •  Random Forest  •  SGD  •  Business Cost Matrix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💡 DID YOU KNOW?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Fascinating Facts — Session 4 — Classification &amp; Optimization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JPMorgan Chase uses ML classifiers to process 12,000 commercial loan applications annually that previously required 360,000 lawyer-hours. Their model saved $150M in operational costs in the first year.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8775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587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1% improvement in credit default prediction accuracy saves the US banking industry $2.3 billion annually in bad debt losses.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4787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47472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Azure's churn prediction models help SaaS clients retain an average of 15% more customers — on a $100M ARR product, that's $15M saved per year.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50799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4507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4348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negatives in medical classification cost 10-100x more than false positives. The same principle applies in fraud detection: missing a $1M fraud costs far more than investigating 100 legitimate transactions.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46811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5468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53949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 algorithm was used to win the Netflix Prize ($1M competition) in 2009. Today, Netflix reports that improved recommendations (driven by classification) are worth &gt;$1B/year in prevented cancellations.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Theory: Classification Algorithms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Tree: produces human-interpretable IF-THEN rules. Intuitive but prone to overfitting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Forest: ensemble of 100+ decision trees — reduces variance through bagging (bootstrap aggregation)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More accurate but less interpretable — trade-off depends on regulatory context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SGD Classifier (Stochastic Gradient Descent): scalable linear model for very large datasets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Low memory, fast training — but works best with linearly separable classes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Evaluation Metrics: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Accuracy: overall correctness (misleading with imbalanced classes)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Precision: of all predicted positives, how many are truly positive?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Recall: of all actual positives, how many did we catch?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F1 Score: harmonic mean of precision and recall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ROC-AUC: overall discriminative power across all thresholds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Business Cost Matrix: Why Accuracy Isn't Enough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False Positive vs False Negative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Positive (FP): predict default → actually good borrower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Cost: lost interest revenue + customer relationship damage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Negative (FN): predict good → actually defaults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Cost: full loan write-off + legal costs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insight: FN cost is often 10-50x higher than FP cost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threshold must be tuned to minimize total business cost, not just error rate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Cost Matrix Framework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Quantify cost of each error type in dollars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Build cost matrix: C(FP) and C(FN)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Compute total cost = FP×C(FP) + FN×C(FN)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Optimize classification threshold to minimize total cost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loan default — C(FN) = $50K, C(FP) = $5K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model with 95% accuracy but 30% FN rate may COST MORE than 90% accuracy with 5% FN rate</a:t>
            </a:r>
            <a:endParaRPr lang="en-US" sz="13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Approval Model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Risk Classification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Banking / Financial Services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Risk: $4.2 Trillion in Global Loans at Stake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 whether a loan applicant will default within 12 months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consumer lending: $4.2T outstanding — 2-5% default rate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1% improvement in prediction = billions in saved write-offs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requirement: models must be explainable (rules out black-box only)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 class imbalance — only 5-8% of loans actually default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 risk: model must not discriminate on protected attributes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Classification Challenge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classification: default (1) vs no-default (0)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Imbalanced data: ~95% no-default, ~5% default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high recall on defaults: missing a default is very costly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reasonable precision: rejecting good borrowers loses revenue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Regulatory: must explain WHY each application is rejected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Tree provides explainability, Random Forest provides accuracy</a:t>
            </a:r>
            <a:endParaRPr lang="en-US" sz="13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Use Case 1: Loan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Loan Approval Classification</a:t>
            </a:r>
            <a:endParaRPr lang="en-US" sz="14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credit_score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FICO score (300-850)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income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income in USD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loan_amount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Requested loan amount in USD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employment_years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Years at current employer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debt_to_income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debt payments / monthly income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previous_defaults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 of previous loan defaults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default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Target: 1 = defaulted, 0 = repaid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Loan Approval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EDA: check class imbalance, feature distributions, correlations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 imbalance: try SMOTE oversampling and class_weight='balanced'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Decision Tree: visualize the tree, extract human-readable rules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Random Forest: 100 trees — compute feature importances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all models: accuracy, precision, recall, F1, ROC-AUC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cost matrix: C(FN) = $50K, C(FP) = $5K — compute total business cost per model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576072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31520" y="609904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1520" y="6099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611733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ROC curve analysis: find optimal threshold that minimizes total business cost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Prediction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Platform (Azure)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Microsoft (Azure SaaS)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Churn: Every 1% Reduction = $100M+ in ARR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 which enterprise customers will cancel Azure subscriptions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annual revenue: $80B+ — even 1% churn = $800M at risk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Acquiring new enterprise customer costs 5-7x retaining existing one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warning: 60-90 days before churn, usage patterns change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identify at-risk accounts → trigger retention intervention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benchmark: 5-7% annual churn for enterprise, 20-30% for SMB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Churn Signals (Features)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Frequency: declining login trend over 30/60/90 days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Tickets: increasing ticket volume (frustration signal)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 Decline: % drop in compute/storage usage month-over-month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Type: enterprise vs SMB vs startup (different churn patterns)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Renewal: days until renewal — churn concentrates near renewal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NPS Score: last Net Promoter Score (promoter vs detractor)</a:t>
            </a:r>
            <a:endParaRPr lang="en-US" sz="13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Use Case 2: SaaS Churn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SaaS Churn Prediction</a:t>
            </a:r>
            <a:endParaRPr lang="en-US" sz="14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customer_id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enterprise customer identifier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login_frequency_30d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Logins in last 30 days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support_tickets_90d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Support tickets in last 90 days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usage_decline_pct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 decline in usage vs 3 months ago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plan_type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enterprise | smb | startup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days_to_renewal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Days until contract renewal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nps_score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 Promoter Score (-100 to 100)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churned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Target: 1 = churned, 0 = active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Churn Prediction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EDA: examine churn rate by plan_type, identify strongest churn predictors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engineering: create trend features (login slope, usage velocity)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Decision Tree + Random Forest + SGD classifier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Compare: precision vs recall tradeoff — which metric matters more for churn?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ROC analysis: find optimal threshold (high recall = catch more churners)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importance: which signals best predict churn? Actionable for customer success team?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576072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31520" y="609904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1520" y="6099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611733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Simulation: if model catches 80% of churners 60 days early, calculate retention campaign ROI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INDUSTRIAL USE CASE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Card Fraud Detection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Visa / Mastercard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Card Fraud: $32 Billion/Year Global Problem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credit card fraud losses: $32 billion/year (Nilson Report)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Visa processes 65,000 transactions/second — each needs real-time scoring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a fraud (FN): full transaction amount + $25 chargeback fee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alert (FP): $75 investigation cost + customer friction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~2-8% of transactions are fraudulent — severe class imbalance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Fraud Signals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Amount: fraud transactions tend to be much larger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 of Day: fraudsters operate late at night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 from Home: transactions far from cardholder location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Frequency: many transactions in 24 hours = suspicious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Foreign Transaction: cross-border usage by a domestic card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Chip: chip transactions are harder to fake</a:t>
            </a:r>
            <a:endParaRPr lang="en-US" sz="13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Use Case 3: Credit Card Fraud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5,000 transactions for Fraud Detection (7.5% fraud rate)</a:t>
            </a:r>
            <a:endParaRPr lang="en-US" sz="14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transaction_id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transaction identifier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amount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Transaction amount in USD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hour_of_day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Hour when transaction occurred (0-23)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distance_from_home_km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Distance from cardholder home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transactions_last_24h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 of transactions in last 24 hours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is_foreign_transaction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= foreign, 0 = domestic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is_online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= online, 0 = in-person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used_chip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= chip used, 0 = swipe/tap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is_fraud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Target: 1 = fraud, 0 = legitimate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Fraud Detection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EDA: analyze fraud patterns by hour, amount, distance, merchant category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Decision Tree, Random Forest, SGD Classifier with balanced class weights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models: precision, recall, F1, ROC-AUC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cost matrix: missed fraud = avg_amount + $25, false alarm = $75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 threshold to minimize total business cost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analysis: estimate daily fraud losses prevented at Visa volume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QUIZ TIME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4: Classification &amp; Optimization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1E3A5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fraud model has 95% accuracy but 30% false negative rate. Why is this a PROBLEM?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48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 95% accuracy sounds great, no 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B)  It misses 30% of actual frauds — very costly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4414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C)  False negatives are cheaper than false positives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4414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D)  The model needs more features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1E3A5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30175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9718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Loan default: C(FN) = $50K, C(FP) = $5K. Model has 200 FP and 30 FN. Total business cost?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429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 $1,000,000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429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B)  $2,500,000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7216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C)  $1,500,000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7216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D)  $11,500,000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1E3A5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77240" y="42976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251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Random Forest reduces overfitting vs a single Decision Tree because it: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709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 Uses fewer features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709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B)  Averages predictions across 100+ trees (bagging)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71600" y="50017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C)  Has deeper trees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50017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D)  Uses gradient descent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4864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1E3A5F"/>
          </a:solidFill>
          <a:ln/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77240" y="55778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77240" y="5577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71600" y="5532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churn prediction, should you optimize for higher Precision or higher Recall?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71600" y="5989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 Precision: avoid wasting budget on non-churners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5989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B)  Recall: catch as many churners as possible before they leave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71600" y="62819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C)  Accuracy: overall correctness matters most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62819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D)  F1 Score: always use balanced metric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 with your neighbor before answering!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COURSE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Thinking + Technical Depth = Business Impact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Apply advanced algorithms to real business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Interpret metrics correctly and critically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Justify every decision with data and business logic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2976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Integrate across Finance + Operations + Marketing + Strategy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4937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 Quantify business impact in dollars, not just accuracy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55778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Present boardroom-ready recommendations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5760720"/>
            <a:ext cx="1033272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Advanced Tool Mastery    |    Enterprise Data-Driven Decisions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029200" y="338328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go build something impactful.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Structures • Algorithms • Machine Learning • Business Strategy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7021</Words>
  <Application>Microsoft Office PowerPoint</Application>
  <PresentationFormat>Widescreen</PresentationFormat>
  <Paragraphs>1096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6" baseType="lpstr">
      <vt:lpstr>Arial</vt:lpstr>
      <vt:lpstr>Cascadia Code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Structures, Algorithms &amp; Machine Learning for Business</dc:title>
  <dc:subject>PptxGenJS Presentation</dc:subject>
  <dc:creator>MBA Analytics Course</dc:creator>
  <cp:lastModifiedBy>Dhiman Mandal</cp:lastModifiedBy>
  <cp:revision>4</cp:revision>
  <dcterms:created xsi:type="dcterms:W3CDTF">2026-03-05T07:39:59Z</dcterms:created>
  <dcterms:modified xsi:type="dcterms:W3CDTF">2026-03-05T08:47:58Z</dcterms:modified>
</cp:coreProperties>
</file>