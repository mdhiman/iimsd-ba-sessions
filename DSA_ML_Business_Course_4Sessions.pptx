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285" r:id="rId27"/>
    <p:sldId id="286" r:id="rId28"/>
    <p:sldId id="287" r:id="rId29"/>
    <p:sldId id="288" r:id="rId30"/>
    <p:sldId id="290" r:id="rId31"/>
    <p:sldId id="291" r:id="rId32"/>
    <p:sldId id="292" r:id="rId33"/>
    <p:sldId id="293" r:id="rId34"/>
    <p:sldId id="295" r:id="rId35"/>
    <p:sldId id="296" r:id="rId36"/>
    <p:sldId id="297" r:id="rId37"/>
    <p:sldId id="298" r:id="rId38"/>
    <p:sldId id="300" r:id="rId39"/>
    <p:sldId id="301" r:id="rId40"/>
    <p:sldId id="302" r:id="rId41"/>
    <p:sldId id="303" r:id="rId42"/>
    <p:sldId id="305" r:id="rId43"/>
    <p:sldId id="306" r:id="rId44"/>
    <p:sldId id="307" r:id="rId45"/>
    <p:sldId id="308" r:id="rId46"/>
    <p:sldId id="310" r:id="rId47"/>
    <p:sldId id="311" r:id="rId48"/>
    <p:sldId id="312" r:id="rId49"/>
    <p:sldId id="313" r:id="rId50"/>
    <p:sldId id="315" r:id="rId51"/>
    <p:sldId id="316" r:id="rId52"/>
    <p:sldId id="317" r:id="rId53"/>
    <p:sldId id="318" r:id="rId54"/>
    <p:sldId id="320" r:id="rId55"/>
    <p:sldId id="321" r:id="rId56"/>
    <p:sldId id="322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974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STRUCTURES, ALGORITHMS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MACHINE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 STRATEGIC BUSINESS DECISIONS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Sessions  •  8 Case Studies  •  CG1 + CG3 Aligned  •  MBA Rigor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Competency Goals: CG1 — Advanced Tool Mastery  |  CG3 — Enterprise Data-Driven Decisions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Sorting Algorithms &amp;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Prioritization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371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Studies: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 Feed Ranking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Auction Player Ranking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37560" y="137160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37560" y="1371600"/>
            <a:ext cx="269748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52044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Graph Algorithms &amp;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Network Modeling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20440" y="3931920"/>
            <a:ext cx="1371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2044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Studies: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Supply Chain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Cricket Partnership Network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1371600"/>
            <a:ext cx="269748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 Segmentation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Using ML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3931920"/>
            <a:ext cx="1371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Studies: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User Segmentation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Fan Segmentation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098280" y="137160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098280" y="1371600"/>
            <a:ext cx="269748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8116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928116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81160" y="2743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Classification &amp;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281160" y="3931920"/>
            <a:ext cx="1371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811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Studies: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8116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Approval Model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Churn Prediction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3A5F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 Algorithms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Prioritization Systems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 Sort  •  Insertion Sort  •  QuickSort  •  Business Impact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💡 DID YOU KNOW?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Fascinating Facts — Session 1 — Sorting &amp; Prioritization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processes 8.5 billion searches/day. Each query sorts millions of results in &lt; 200ms. A 1% inefficiency in sort = $50M+ in extra cloud spend annually.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found that every 100ms of latency costs them 1% in sales — roughly $4.8 billion/year lost if sort algorithms slow down product rankings.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4787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7472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LinkedIn's feed algorithm re-ranks 100K+ candidate posts per user session using a hybrid ML + sort pipeline. The ranking order directly affects $16B in annual ad revenue.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0799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507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34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IPL player auction involves ₹4,000+ Crore ($500M+) in bids decided in under 48 hours — teams use weighted multi-criteria sorting to rank 500+ players in real-time.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6811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468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5394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QuickSort, invented in 1960 by Tony Hoare, is still the default sort in most programming languages — 65 years later, no general-purpose algorithm consistently beats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Sorting Matters in Business Systems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 = Ranking = Resource Allocation — every business decision involves ordering alternatives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Complexity matters at scale: Selection Sort O(n²), Insertion Sort O(n²) but efficient for nearly-sorted data, QuickSort O(n log n) average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Stability: Stable sorts preserve original order for equal elements — critical for multi-key ranking (e.g., sort by score THEN by date)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In-place vs Memory overhead: QuickSort is in-place (saves RAM), MergeSort needs O(n) extra space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Sorting speed directly affects latency, cloud compute costs, user retention, and revenue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10M records: O(n²) takes ~100 trillion ops vs O(n log n) at ~230M ops — that's a 400,000x difference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Real-world: Every extra 100ms of latency = 1% sales drop (Amazon), 0.6% fewer searches (Google)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Complexity: The Business Cost of Bad Sorting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7432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30175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Algorithm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Best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Average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Worst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Space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Stable?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Best For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Selection Sort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O(1)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Small datasets, minimal swaps needed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Insertion Sort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O(1)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Nearly sorted data, streaming input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QuickSort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O(n²)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General purpose, large datasets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MergeSort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Guaranteed performance, linked lists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TimSort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 log 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O(n)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Python/Java default — real-world data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57200" y="4572000"/>
            <a:ext cx="11247120" cy="1645920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💰 Business Translation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5029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 1M e-commerce products: QuickSort ≈ 0.3s vs Selection Sort ≈ 16 minutes. On Azure B2s VM ($0.05/hr), the O(n²) approach costs 53x more. At Netflix scale (247M subscribers), algorithm choice = millions in infrastructure savings.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[Not For Student]Exceeds Expectation: Algorithm Selection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must justify algorithm selection under three constraints: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1. Scale Constraints — How does performance degrade from 10K to 10M records?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2. SLA Requirements — Can we guarantee sub-200ms response under peak load?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3. Cloud Cost Model — What is the monthly infrastructure cost difference?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Matrix students must complete: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Input size range and growth projection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Data characteristics (nearly sorted? random? reverse sorted?)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Memory constraints (edge device vs cloud VM)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Stability requirements (multi-key ranking needs stable sort)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Cost per 1M operations on chosen cloud tier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STUDY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 Ranking System — LinkedIn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LinkedIn (Microsoft)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 Feed Ranking: The $16B Algorithm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posts appear in the top 10 of a user's feed?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 has 1B+ members generating 2M+ posts daily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 ranking directly drives: ad impressions, engagement, premium subscriptions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1% improvement in feed relevance = $160M additional annual revenue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rank 100K+ candidate posts per session in real-time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Input Features for Ranking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Engagement Score: likes, comments, shares weighted by recency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Strength: 1st/2nd degree, interaction frequency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Freshness: hours since posted (exponential decay)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Type: article, video, poll, image (each has different engagement profile)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 Authority: follower count, post consistency, industry relevance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Mapping: From Theory to LinkedIn's Feed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Compute Composite Score — weighted sum of engagement, connection, freshness, content type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Sort by descending composite score — top-K selection problem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Real-time vs Batch decision: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Real-time: re-rank on every scroll (needs O(n log n) or better)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Batch: pre-compute rankings every 15 min (can tolerate O(n²) for smaller candidate sets)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Stability consideration — posts with equal scores should maintain chronological order → need stable sort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Insight: LinkedIn uses a multi-pass system — first a cheap candidate selection (quick filter), then expensive ML re-ranking on top ~1000 posts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perfect example of algorithm choice driven by SLA + cost constraints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1: Dataset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LinkedIn Feed Ranking simulation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2880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post_id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identifier for each post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engagement_score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Weighted score: likes×1 + comments×3 + shares×5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connection_strength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 to 1.0 — based on interaction frequency with author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hours_since_posted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Hours elapsed since post creation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content_type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article | video | poll | image | text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creator_followers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followers of the post author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LinkedIn Feed Ranking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composite ranking score: w1×engagement + w2×connection - w3×hours + w4×type_bonus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Compare: Python built-in sort (TimSort) vs manual Insertion Sort vs simulated QuickSort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 scale: 10K → 100K → 1M rows — measure time for each algorithm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Visualize: Plot execution time vs dataset size (log scale) for all three algorithms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 cost impact: Map time to Azure VM pricing (B2s @ $0.05/hr, D4s @ $0.19/hr)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 analysis: Change weights and observe how top-10 feed changes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609904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6099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611733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deliverable: Recommend algorithm + justify with cost-performance tradeoff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STUDY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Auction Player Ranking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Indian Premier League (Cricket)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Auction: ₹4,000 Cr Decisions in 48 Hours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rank 500+ players before the mega auction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purse per team: ₹100 Crore (~$12M)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ranking = overpaying by ₹10-30 Cr per player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Multi-criteria problem: performance, form, injury risk, role fit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 auction: ₹4,470 Crore spent across 10 teams in 2 days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Mitchell Starc sold for ₹24.75 Cr — highest ever IPL bid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Input Features for Ranking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Strike Rate: runs per 100 balls (higher = more aggressive)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Batting Average: runs per dismissal (higher = more consistent)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Form Index: weighted avg of last 10 matches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Injury Risk Probability: 0.0-1.0 based on medical history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Requirement: opener, middle-order, finisher, bowler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Price: minimum bid set by player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Mapping: Multi-Criteria Sorting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Multi-Criteria Scoring: composite_score = w1×strike_rate + w2×avg + w3×form - w4×injury + role_bonus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Sort: different team strategies produce different weight vectors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Aggressive team: high weight on strike rate → prioritize finishers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Conservative team: high weight on average + low injury → prioritize consistency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 Analysis: How much does ranking change when weights shift by ±10%?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Constraint Layer: After sorting, apply knapsack-style optimization — maximize total team value within ₹100 Cr budget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Impact: In 2023, teams using analytics-driven sorting won 23% more matches than those relying on expert intuition alone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2: Dataset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IPL Auction Player Ranking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player_name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name of the cricketer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strike_rate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Career T20 strike rate (runs per 100 balls)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batting_avg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Career T20 batting average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recent_form_score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Weighted score from last 10 T20 matches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injury_risk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 (no risk) to 1.0 (very high risk)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base_price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Minimum auction price in ₹ Lakhs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role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opener | middle_order | finisher | bowler | allrounder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IPL Auction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weighted composite score with configurable weights per team strategy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 players by composite score — compare stable vs unstable sort behavior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3 team strategies: aggressive, balanced, conservative — observe ranking changes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 analysis: vary each weight ±10% and measure rank position change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optimization: select optimal squad (11 players) within ₹100 Cr constraint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Visualize: scatter plot of value-for-money (score/price ratio) vs absolute score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3A5F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Algorithms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Modeling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 •  BFS / DFS  •  Minimum Spanning Tree  •  Centrality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💡 DID YOU KNOW?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Fascinating Facts — Session 2 — Graphs &amp; Networks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Facebook's social graph contains 3 billion nodes and 200+ billion edges. Finding a friend suggestion requires traversing this graph in &lt; 100ms.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FedEx optimizes 15 million package routes daily using graph shortest-path algorithms — saving $2B+ per year in fuel costs vs naive routing.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4787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7472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Maps' Dijkstra-variant processes 1 billion+ km of roads. A 0.1% improvement in pathfinding saved users 100 million hours of driving time in 2023.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0799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507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34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supply chain networks, a single critical-node failure (like the 2021 Suez Canal blockage) caused $9.6 billion/day in global trade losses — graph centrality analysis could have identified this vulnerability.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6811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468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5394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"Six Degrees of Separation" theory was proven computationally on Facebook: average shortest path between any two users = 3.57 hops.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Theory: Graph Fundamentals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 (Vertices): entities in the network — people, locations, servers, products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Edges: relationships between nodes — can be directed or undirected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Graphs: edges carry values — cost, time, risk, capacity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Algorithms: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Dijkstra: shortest weighted path — optimization of cost/time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BFS (Breadth-First Search): level-by-level exploration — nearest neighbor discovery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DFS (Depth-First Search): deep exploration — cycle detection, dependency resolution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Minimum Spanning Tree (Kruskal/Prim): connect all nodes at minimum total cost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Centrality Measures: identify the most influential/critical nodes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Applications of Graph Theory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Industry Applications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Chain: optimize routing, identify single-point-of-failure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Detection: unusual transaction patterns in payment graphs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Networks: influence propagation, community detection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 &amp; Logistics: route optimization, fleet management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Cybersecurity: network intrusion path analysis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 Engines: collaborative filtering via user-item graphs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Centrality Measures for Business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Degree Centrality: who has the most connections? (popularity)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Betweenness Centrality: who bridges communities? (information broker)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Closeness Centrality: who can reach everyone fastest? (influence speed)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PageRank: who is connected to other important nodes? (authority)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implication: removing high-betweenness node = network fragmentation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Risk: a supplier with highest betweenness = biggest vulnerability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STUDY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Global Supply Chain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Optimization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Microsoft Corporation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Supply Chain: A $200B+ Network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 component movement between 30+ factories &amp; 60+ data centers globally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Microsoft's hardware supply chain: Surface, Xbox, Azure servers, HoloLens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day: 10,000+ components move across continents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COVID-19 exposed fragility: 64% of companies faced supply disruption in 2021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minimize cost while maintaining delivery SLAs and managing risk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Graph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Nodes: Supplier → Factory → Warehouse → Data Center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weights: Transport cost ($), Delivery time (days), Risk probability (0-1)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Multi-objective optimization: minimize cost + time while keeping risk below threshold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failure scenario: what happens if a key warehouse goes offline?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data: Suez Canal blockage added $400/container → changed shortest paths globally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1: Supply Chain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Microsoft Supply Chain Graph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2880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source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Origin node (e.g., 'Supplier_Taiwan_A')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destination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Destination node (e.g., 'Factory_Ireland')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cost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cost per unit in USD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delivery_time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delivery time in days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risk_score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 (safe) to 1.0 (high risk) — geopolitical, weather, capacity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capacity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Maximum units per shipment on this route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Supply Chain Graph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graph using NetworkX: nodes = facilities, edges = transport routes with cost/time/risk weights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shortest path (Dijkstra) optimizing for cost — then separately for time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Minimum Spanning Tree: what's the minimum-cost network to connect all nodes?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Betweenness centrality: identify the most critical nodes (highest disruption risk)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 node failure: remove top-centrality node → recalculate paths and cost increase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Visualize: interactive graph with node size = centrality, edge width = capacity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609904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6099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611733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disruption report: % cost increase, SLA breach count, affected product lines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STUDY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Cricket Partnership Network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Indian Premier League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Cricket Partnership Graph: Data-Driven Team Building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most valuable batting partnerships in T20 cricket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Partnerships = collaborative performance → graph problem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metric: individual batting average/strike rate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metric: which PAIR of batters creates most value together?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Insight: some players perform 40% better with specific partners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 IPL: top partnership generated 534 runs in 12 innings together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Graph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Nodes: Players (with individual stats as node attributes)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Edges: Partnership records (runs scored together, win contribution)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weight: composite of runs_together × win_percentage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Degree Centrality: who partners successfully with the MOST players?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Betweenness: who connects different batting clusters? (versatile batter)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Detection: identify natural batting pairs/groups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2: Partnership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Cricket Partnership Network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2880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player_a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player in the partnership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player_b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Second player in the partnership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runs_together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runs scored while both were batting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matches_played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matches they batted together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win_percentage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win % when this pair bats together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avg_partnership_sr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Combined strike rate during partnerships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Partnership Network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partnership graph: players as nodes, partnership stats as weighted edges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degree centrality: who is the most versatile partner?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betweenness centrality: who bridges different batting groups?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strongest edges: top-10 most valuable partnerships by weighted score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Compare: popularity (degree) vs actual impact (weighted betweenness)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Visualize: force-directed graph with communities color-coded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3A5F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Segmentation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Machine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K-Means  •  Hierarchical Clustering  •  DBSCAN  •  Business Interpretation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💡 DID YOU KNOW?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Fascinating Facts — Session 3 — Customer Segmentation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saves $1 billion per year through its recommendation system, which is built on user segmentation. 80% of content watched comes from algorithmic suggestions.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Starbucks' customer segmentation drives 40% of its revenue through targeted offers. Their ML system segments 30M+ rewards members into micro-cohorts updated weekly.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4787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7472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Amazon's "Customers who bought this" feature (collaborative filtering + segmentation) drives 35% of total revenue — worth $150B+ annually.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0799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507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34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Spotify's Discover Weekly playlist, powered by user clustering, has generated 10B+ streams. Users who engage with it have 30% lower churn rate.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6811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468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5394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wrong number of segments (K) can be catastrophic: a major retailer lost $50M in a single quarter by targeting 3 segments when their data naturally had 7, sending irrelevant promotions to 60% of customers.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Theory: Unsupervised Learning for Segmentation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Unsupervised Learning: no labeled data — algorithm discovers structure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K-Means Clustering: partition n observations into K clusters minimizing within-cluster variance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Fast, scalable, interpretable — but requires choosing K and assumes spherical clusters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 Clustering: builds a tree (dendrogram) of nested clusters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No need to pre-specify K — but O(n³) complexity, not scalable beyond ~10K points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DBSCAN: density-based clustering — finds arbitrarily shaped clusters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Handles outliers naturally — but sensitive to hyperparameters (eps, min_samples)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Scaling: CRITICAL — K-Means uses Euclidean distance; unscaled features create bias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 K: Elbow Method (inertia plot) + Silhouette Score (cohesion vs separation)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Purpose: Why Segment?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Strategic Value of Segmentation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Personalization: right message to each segment → 5-8x higher engagement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Targeted Marketing: allocate budget to highest-ROI segments first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Lifetime Value (LTV) optimization: identify and nurture high-value cohorts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Development: build features that serve largest/highest-value segments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Strategy: different willingness-to-pay per segment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Prevention: identify at-risk segments before they leave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Cluster Validation: Is Your Segmentation Good?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Silhouette Score: -1 to +1 (higher = better separation between clusters)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Inertia / Elbow Method: plot inertia vs K — look for the 'elbow' bend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Sense Test: can marketing team act on these segments?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Stability Test: re-run with different seeds — do segments stay consistent?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Balance: are segments too skewed? (one cluster with 90% of data is useless)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Actionability: each segment must have a distinct strategic response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STUDY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User Segmentation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Retention Strategy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Netflix Inc.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Netflix: 247M Subscribers, 190 Countries, 1 Algorithm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recommendation accuracy and reduce churn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loses $1.6B/year to churn (avg subscriber stays 15 months)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library costs $17B/year — ROI depends on matching content to segments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segment users to enable hyperpersonalized recommendations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insight: users don't know what they want — 80% of plays come from recommendations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Features for Segmentation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Hours: daily average viewing time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 Diversity Score: how many different genres per month (0-1)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Tier: Basic, Standard, Premium, Ad-supported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 Type: mobile, tablet, desktop, smart TV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Active: number of days with at least one stream in last 30 days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Completion Rate: % of started shows/movies finished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1: Netflix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Netflix User Segmentation</a:t>
            </a:r>
            <a:endParaRPr lang="en-US" sz="14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user_id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anonymous user identifier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avg_watch_hours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 daily watch hours (0-12)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genre_diversity_score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 (one genre only) to 1.0 (watches all genres)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subscription_type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basic | standard | premium | ad_supported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days_active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days in last 30 days (0-30)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completion_rate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of content started that was finished (0-1)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device_primary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 | tablet | desktop | smart_tv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Netflix Segmentation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engineering: encode subscription_type and device_primary using ordinal/one-hot encoding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all features using StandardScaler (critical for K-Means Euclidean distance)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Determine optimal K: plot Elbow curve (inertia) and Silhouette scores for K=2 to K=10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K-Means with optimal K — assign cluster labels to each user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each cluster: compute mean/median of all features per cluster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Visualize: PCA 2D projection with cluster coloring + radar charts per cluster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609904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6099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611733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each cluster with a business persona (e.g., 'Binge Watcher', 'Casual Browser')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STUDY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Fan Segmentation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Revenue Optimization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Indian Premier League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IPL: 500M+ Viewers, ₹50,000 Cr Media Rights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IPL 2023 viewership: 505 million across TV + streaming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rights deal: ₹48,390 Cr ($5.9B) for 2023-2027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streams: tickets, merchandise, sponsorship, streaming, fantasy gaming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not all fans are equal — need to identify premium segments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maximize revenue per fan by understanding consumption patterns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Features for Segmentation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Attendance: stadium visits per season (0-14 home games)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Merchandise Spend: annual spend on team merchandise (₹)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Engagement: posts, likes, shares about IPL per month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Hours: hours of IPL content streamed per season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Fantasy Gaming: active in IPL fantasy leagues? spend?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Multi-team vs Single-team: follows 1 team loyally or watches all?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2: IPL Fan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IPL Fan Segmentation</a:t>
            </a:r>
            <a:endParaRPr lang="en-US" sz="14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fan_id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anonymous fan identifier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match_attendance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stadium matches attended per season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merchandise_spend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merchandise spending in ₹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social_engagement_score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Normalized social media activity (0-1)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streaming_hours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IPL streaming hours per season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fantasy_spend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spend on fantasy cricket in ₹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loyalty_index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 (multi-team) to 1.0 (single-team loyal)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IPL Fan Segmentation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features and run K-Means for K=3 to K=8 — determine optimal segments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clusters: which segment attends matches? which streams? which spends on merch?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"Premium Superfan" segment: high attendance + high merch + high loyalty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"Digital-Only" segment: high streaming + social but no attendance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revenue per fan per segment: (ticket + merch + streaming + fantasy revenue)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targeted campaign for each segment with specific channel + message + offer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E3A5F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Trees  •  Random Forest  •  SGD  •  Business Cost Matrix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💡 DID YOU KNOW?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Fascinating Facts — Session 4 — Classification &amp; Optimization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JPMorgan Chase uses ML classifiers to process 12,000 commercial loan applications annually that previously required 360,000 lawyer-hours. Their model saved $150M in operational costs in the first year.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1% improvement in credit default prediction accuracy saves the US banking industry $2.3 billion annually in bad debt losses.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4787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7472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Azure's churn prediction models help SaaS clients retain an average of 15% more customers — on a $100M ARR product, that's $15M saved per year.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0799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507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34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negatives in medical classification cost 10-100x more than false positives. The same principle applies in fraud detection: missing a $1M fraud costs far more than investigating 100 legitimate transactions.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68112"/>
            <a:ext cx="320040" cy="32004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162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468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5394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 algorithm was used to win the Netflix Prize ($1M competition) in 2009. Today, Netflix reports that improved recommendations (driven by classification) are worth &gt;$1B/year in prevented cancellations.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Theory: Classification Algorithms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Tree: produces human-interpretable IF-THEN rules. Intuitive but prone to overfitting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Forest: ensemble of 100+ decision trees — reduces variance through bagging (bootstrap aggregation)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More accurate but less interpretable — trade-off depends on regulatory context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SGD Classifier (Stochastic Gradient Descent): scalable linear model for very large datasets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Low memory, fast training — but works best with linearly separable classes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Evaluation Metrics: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Accuracy: overall correctness (misleading with imbalanced classes)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Precision: of all predicted positives, how many are truly positive?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Recall: of all actual positives, how many did we catch?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F1 Score: harmonic mean of precision and recall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ROC-AUC: overall discriminative power across all thresholds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Business Cost Matrix: Why Accuracy Isn't Enough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False Positive vs False Negative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Positive (FP): predict default → actually good borrower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Cost: lost interest revenue + customer relationship damage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Negative (FN): predict good → actually defaults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Cost: full loan write-off + legal costs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insight: FN cost is often 10-50x higher than FP cost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threshold must be tuned to minimize total business cost, not just error rate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Cost Matrix Framework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Quantify cost of each error type in dollars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Build cost matrix: C(FP) and C(FN)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Compute total cost = FP×C(FP) + FN×C(FN)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Optimize classification threshold to minimize total cost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loan default — C(FN) = $50K, C(FP) = $5K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model with 95% accuracy but 30% FN rate may COST MORE than 90% accuracy with 5% FN rate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STUDY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 Approval Model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Risk Classification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Banking / Financial Services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Risk: $4.2 Trillion in Global Loans at Stake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 whether a loan applicant will default within 12 months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consumer lending: $4.2T outstanding — 2-5% default rate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1% improvement in prediction = billions in saved write-offs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requirement: models must be explainable (rules out black-box only)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class imbalance — only 5-8% of loans actually default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 risk: model must not discriminate on protected attributes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Classification 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classification: default (1) vs no-default (0)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Imbalanced data: ~95% no-default, ~5% default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high recall on defaults: missing a default is very costly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reasonable precision: rejecting good borrowers loses revenue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Regulatory: must explain WHY each application is rejected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 provides explainability, Random Forest provides accuracy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1: Loan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Loan Approval Classification</a:t>
            </a:r>
            <a:endParaRPr lang="en-US" sz="14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credit_score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FICO score (300-850)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income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income in USD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loan_amount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Requested loan amount in USD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employment_years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Years at current employer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debt_to_income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debt payments / monthly income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previous_defaults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previous loan defaults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default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Target: 1 = defaulted, 0 = repaid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Loan Approval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EDA: check class imbalance, feature distributions, correlations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 imbalance: try SMOTE oversampling and class_weight='balanced'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Decision Tree: visualize the tree, extract human-readable rules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Random Forest: 100 trees — compute feature importances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all models: accuracy, precision, recall, F1, ROC-AUC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cost matrix: C(FN) = $50K, C(FP) = $5K — compute total business cost per model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609904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6099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611733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ROC curve analysis: find optimal threshold that minimizes total business cost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CASE STUDY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Churn Prediction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Platform (Azure)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Reference: Microsoft (Azure SaaS)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Churn: Every 1% Reduction = $100M+ in ARR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 which enterprise customers will cancel Azure subscriptions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annual revenue: $80B+ — even 1% churn = $800M at risk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Acquiring new enterprise customer costs 5-7x retaining existing one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warning: 60-90 days before churn, usage patterns change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identify at-risk accounts → trigger retention intervention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benchmark: 5-7% annual churn for enterprise, 20-30% for SMB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Churn Signals (Features)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Frequency: declining login trend over 30/60/90 days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Tickets: increasing ticket volume (frustration signal)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 Decline: % drop in compute/storage usage month-over-month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Type: enterprise vs SMB vs startup (different churn patterns)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Renewal: days until renewal — churn concentrates near renewal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Bef>
                <a:spcPts val="300"/>
              </a:spcBef>
              <a:buSzPct val="100000"/>
              <a:buChar char="▸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NPS Score: last Net Promoter Score (promoter vs detractor)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2: SaaS Churn Dataset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dataset for SaaS Churn Prediction</a:t>
            </a:r>
            <a:endParaRPr lang="en-US" sz="14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515600" cy="3703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Column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Description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customer_id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enterprise customer identifier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login_frequency_30d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Logins in last 30 days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support_tickets_90d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Support tickets in last 90 days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usage_decline_pct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float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decline in usage vs 3 months ago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plan_type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enterprise | smb | startup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days_to_renewal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Days until contract renewal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nps_score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Promoter Score (-100 to 100)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3F"/>
                          </a:solidFill>
                          <a:latin typeface="Cascadia Code" pitchFamily="34" charset="0"/>
                          <a:ea typeface="Cascadia Code" pitchFamily="34" charset="-122"/>
                          <a:cs typeface="Cascadia Code" pitchFamily="34" charset="-120"/>
                        </a:rPr>
                        <a:t>churned</a:t>
                      </a:r>
                      <a:endParaRPr lang="en-US" sz="1200" dirty="0">
                        <a:latin typeface="Cascadia Code" charset="0"/>
                        <a:ea typeface="Cascadia Code" charset="0"/>
                        <a:cs typeface="Cascadia Code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binary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Target: 1 = churned, 0 = active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 Jupyter Notebook Tasks — Churn Prediction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Jupyter Notebook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EDA: examine churn rate by plan_type, identify strongest churn predictors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6829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engineering: create trend features (login slope, usage velocity)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761488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998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Decision Tree + Random Forest + SGD classifier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3511296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38496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6791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Compare: precision vs recall tradeoff — which metric matters more for churn?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261104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5994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61772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ROC analysis: find optimal threshold (high recall = catch more churners)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10912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6752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importance: which signals best predict churn? Actionable for customer success team?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5760720"/>
            <a:ext cx="27432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609904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" y="6099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611733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Simulation: if model catches 80% of churners 60 days early, calculate retention campaign ROI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COURSE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Exceeds Expectations = Strategic Thinking + Technical Depth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Apply advanced algorithms to real business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Interpret metrics correctly and critically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Justify every decision with data and business logic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Integrate across Finance + Operations + Marketing + Strategy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4937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 Quantify business impact in dollars, not just accuracy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55778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Present boardroom-ready recommendations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5760720"/>
            <a:ext cx="1033272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CG1 — Advanced Tool Mastery    |    CG3 — Enterprise Data-Driven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Competency Mapping: CG1 + CG3 Alignment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286000" cy="320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11612880" cy="4846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Session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CG1: Tool Mastery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CG3: Strategic Decision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Cross-Functional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Exceeds Expectations Bar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1: Sorting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 3 sort algorithms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Measure complexity empirically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Algorithm choice affects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&amp; cloud cost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 + Finance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 Product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Justify algo choice under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+ cost constraints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2: Graphs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&amp; analyze graph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with NetworkX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Identify critical nodes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 disruption cost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Operations + Finance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 Risk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Quantify financial exposure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 node failure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3: Clustering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K-Means + validation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PCA visualization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Interpret segments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strategically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Marketing + Finance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 Product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Calculate ROI per segment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Propose pricing strategy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4: Classification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Multi-model training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 matrix evaluation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Cost-sensitive model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Finance + Risk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 Compliance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Board-ready model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0" y="338328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go build something that exceeds expectations.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Structures • Algorithms • Machine Learning • Business Strategy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5656</Words>
  <Application>Microsoft Office PowerPoint</Application>
  <PresentationFormat>Widescreen</PresentationFormat>
  <Paragraphs>839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Cascadia Code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Structures, Algorithms &amp; Machine Learning for Business</dc:title>
  <dc:subject>PptxGenJS Presentation</dc:subject>
  <dc:creator>MBA Analytics Course</dc:creator>
  <cp:lastModifiedBy>Dhiman Mandal</cp:lastModifiedBy>
  <cp:revision>2</cp:revision>
  <dcterms:created xsi:type="dcterms:W3CDTF">2026-02-27T06:00:02Z</dcterms:created>
  <dcterms:modified xsi:type="dcterms:W3CDTF">2026-02-27T06:13:05Z</dcterms:modified>
</cp:coreProperties>
</file>